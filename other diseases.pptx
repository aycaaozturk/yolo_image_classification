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87" r:id="rId8"/>
    <p:sldId id="295" r:id="rId9"/>
    <p:sldId id="288" r:id="rId10"/>
    <p:sldId id="289" r:id="rId11"/>
    <p:sldId id="290" r:id="rId12"/>
    <p:sldId id="262" r:id="rId13"/>
    <p:sldId id="273" r:id="rId14"/>
    <p:sldId id="267" r:id="rId15"/>
    <p:sldId id="268" r:id="rId16"/>
    <p:sldId id="270" r:id="rId17"/>
    <p:sldId id="269" r:id="rId18"/>
    <p:sldId id="271" r:id="rId19"/>
    <p:sldId id="279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21.jpeg"/><Relationship Id="rId7" Type="http://schemas.openxmlformats.org/officeDocument/2006/relationships/image" Target="../media/image20.jpe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11630"/>
            <a:ext cx="9144000" cy="853440"/>
          </a:xfrm>
        </p:spPr>
        <p:txBody>
          <a:bodyPr/>
          <a:lstStyle/>
          <a:p>
            <a:r>
              <a:rPr lang="de-DE" altLang="en-US" sz="4000" dirty="0">
                <a:latin typeface="Calibri" panose="020F0502020204030204" charset="0"/>
              </a:rPr>
              <a:t>Nail Melanoma Project</a:t>
            </a:r>
            <a:endParaRPr lang="de-DE" altLang="en-US" sz="4000" dirty="0">
              <a:latin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00643"/>
            <a:ext cx="9144000" cy="1655762"/>
          </a:xfrm>
        </p:spPr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Performance Evaluation of CNN Models including other Nail Diseases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37147" y="-27940"/>
            <a:ext cx="3305175" cy="1447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745" y="3162300"/>
            <a:ext cx="5730240" cy="21793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60985" y="5524500"/>
            <a:ext cx="33864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de-DE" altLang="en-US" sz="1600" b="1">
              <a:latin typeface="Calibri" panose="020F0502020204030204" charset="0"/>
            </a:endParaRPr>
          </a:p>
          <a:p>
            <a:r>
              <a:rPr lang="de-DE" altLang="en-US" sz="1600" b="1">
                <a:latin typeface="Calibri" panose="020F0502020204030204" charset="0"/>
              </a:rPr>
              <a:t>Supervisor:</a:t>
            </a:r>
            <a:r>
              <a:rPr lang="de-DE" altLang="en-US" sz="1600">
                <a:latin typeface="Calibri" panose="020F0502020204030204" charset="0"/>
              </a:rPr>
              <a:t> Juan Prada</a:t>
            </a:r>
            <a:endParaRPr lang="de-DE" altLang="en-US" sz="1600">
              <a:latin typeface="Calibri" panose="020F0502020204030204" charset="0"/>
            </a:endParaRPr>
          </a:p>
          <a:p>
            <a:r>
              <a:rPr lang="de-DE" altLang="en-US" sz="1600" b="1">
                <a:latin typeface="Calibri" panose="020F0502020204030204" charset="0"/>
              </a:rPr>
              <a:t>Second Examiner:</a:t>
            </a:r>
            <a:r>
              <a:rPr lang="de-DE" altLang="en-US" sz="1600">
                <a:latin typeface="Calibri" panose="020F0502020204030204" charset="0"/>
              </a:rPr>
              <a:t> Thomas Dandekar</a:t>
            </a:r>
            <a:endParaRPr lang="de-DE" altLang="en-US" sz="1600">
              <a:latin typeface="Calibri" panose="020F0502020204030204" charset="0"/>
            </a:endParaRPr>
          </a:p>
          <a:p>
            <a:r>
              <a:rPr lang="de-DE" altLang="en-US" sz="1600">
                <a:latin typeface="Calibri" panose="020F0502020204030204" charset="0"/>
              </a:rPr>
              <a:t>Ayca Öztürk, 2777497</a:t>
            </a:r>
            <a:endParaRPr lang="de-DE" altLang="en-US" sz="160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CNN Models with the best performances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 b="1">
                <a:latin typeface="Calibri" panose="020F0502020204030204" charset="0"/>
              </a:rPr>
              <a:t>Vision Transformer </a:t>
            </a:r>
            <a:r>
              <a:rPr lang="en-US" altLang="en-US" b="1">
                <a:latin typeface="Calibri" panose="020F0502020204030204" charset="0"/>
                <a:sym typeface="+mn-ea"/>
              </a:rPr>
              <a:t>ViT-B/16</a:t>
            </a:r>
            <a:r>
              <a:rPr lang="de-DE" altLang="en-US" b="1">
                <a:latin typeface="Calibri" panose="020F0502020204030204" charset="0"/>
                <a:sym typeface="+mn-ea"/>
              </a:rPr>
              <a:t> </a:t>
            </a:r>
            <a:r>
              <a:rPr lang="de-DE" altLang="en-US" b="1">
                <a:latin typeface="Calibri" panose="020F0502020204030204" charset="0"/>
              </a:rPr>
              <a:t> </a:t>
            </a:r>
            <a:r>
              <a:rPr lang="de-DE" altLang="en-US">
                <a:latin typeface="Calibri" panose="020F0502020204030204" charset="0"/>
              </a:rPr>
              <a:t>(has self attention </a:t>
            </a:r>
            <a:r>
              <a:rPr lang="en-US" altLang="en-US">
                <a:latin typeface="Calibri" panose="020F0502020204030204" charset="0"/>
              </a:rPr>
              <a:t>to capture dependencies and relationships within input sequences</a:t>
            </a:r>
            <a:r>
              <a:rPr lang="de-DE" altLang="en-US">
                <a:latin typeface="Calibri" panose="020F0502020204030204" charset="0"/>
              </a:rPr>
              <a:t>, learns the global context, good for explainability)</a:t>
            </a:r>
            <a:endParaRPr lang="de-DE" altLang="en-US">
              <a:latin typeface="Calibri" panose="020F0502020204030204" charset="0"/>
            </a:endParaRPr>
          </a:p>
          <a:p>
            <a:r>
              <a:rPr lang="de-DE" altLang="en-US" b="1">
                <a:latin typeface="Calibri" panose="020F0502020204030204" charset="0"/>
              </a:rPr>
              <a:t>YOLO</a:t>
            </a:r>
            <a:r>
              <a:rPr lang="de-DE" altLang="en-US">
                <a:latin typeface="Calibri" panose="020F0502020204030204" charset="0"/>
              </a:rPr>
              <a:t> (new versions have XAI but mostly focused on object detection)</a:t>
            </a:r>
            <a:endParaRPr lang="de-DE" altLang="en-US">
              <a:latin typeface="Calibri" panose="020F0502020204030204" charset="0"/>
            </a:endParaRPr>
          </a:p>
          <a:p>
            <a:r>
              <a:rPr lang="de-DE" altLang="en-US" b="1">
                <a:latin typeface="Calibri" panose="020F0502020204030204" charset="0"/>
              </a:rPr>
              <a:t>ResNet18</a:t>
            </a:r>
            <a:r>
              <a:rPr lang="de-DE" altLang="en-US">
                <a:latin typeface="Calibri" panose="020F0502020204030204" charset="0"/>
              </a:rPr>
              <a:t> (doesnt have integrated XAI but its an adaptive model which can be used with GradCam, LIME, SHAP)</a:t>
            </a: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The Most Common Nail Diseases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/>
              <a:t>Onychomycosis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Leukonychia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Onycholysis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5380" y="1470025"/>
            <a:ext cx="1586230" cy="8591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431280" y="1551305"/>
            <a:ext cx="266192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sym typeface="+mn-ea"/>
              </a:rPr>
              <a:t>Nail psoriasis</a:t>
            </a:r>
            <a:endParaRPr lang="en-US" altLang="en-US" sz="28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sym typeface="+mn-ea"/>
              </a:rPr>
              <a:t>Beau’s lines</a:t>
            </a:r>
            <a:endParaRPr lang="en-US" altLang="en-US" sz="28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sym typeface="+mn-ea"/>
              </a:rPr>
              <a:t>Koilonychia</a:t>
            </a:r>
            <a:endParaRPr lang="en-US" altLang="en-US" sz="2800"/>
          </a:p>
          <a:p>
            <a:endParaRPr lang="en-US" altLang="en-US" sz="28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690" y="2647315"/>
            <a:ext cx="1616075" cy="984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650" y="3949700"/>
            <a:ext cx="1517015" cy="10153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830" y="1268730"/>
            <a:ext cx="1623060" cy="967740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ChangeAspect="1"/>
          </p:cNvPicPr>
          <p:nvPr>
            <p:ph sz="half" idx="2"/>
          </p:nvPr>
        </p:nvPicPr>
        <p:blipFill>
          <a:blip r:embed="rId5"/>
          <a:srcRect l="4290" r="4290"/>
          <a:stretch>
            <a:fillRect/>
          </a:stretch>
        </p:blipFill>
        <p:spPr>
          <a:xfrm>
            <a:off x="8799830" y="2432050"/>
            <a:ext cx="923925" cy="775970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830" y="3403600"/>
            <a:ext cx="949960" cy="788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>
                <a:latin typeface="Calibri" panose="020F0502020204030204" charset="0"/>
                <a:cs typeface="Calibri" panose="020F0502020204030204" charset="0"/>
              </a:rPr>
              <a:t>Common Nail Diseases Confused with Nail Melanoma</a:t>
            </a:r>
            <a:endParaRPr lang="en-US" altLang="en-US" sz="32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/>
              <a:t>Subungual hematoma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Melanonychia striata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Onychomycosis</a:t>
            </a:r>
            <a:endParaRPr lang="en-US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341495" y="3080385"/>
            <a:ext cx="1417955" cy="13379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780" y="4629785"/>
            <a:ext cx="2241550" cy="12141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705" y="1558290"/>
            <a:ext cx="1261745" cy="1138555"/>
          </a:xfrm>
          <a:prstGeom prst="rect">
            <a:avLst/>
          </a:prstGeom>
        </p:spPr>
      </p:pic>
      <p:sp>
        <p:nvSpPr>
          <p:cNvPr id="8" name="Right Brace 7"/>
          <p:cNvSpPr/>
          <p:nvPr/>
        </p:nvSpPr>
        <p:spPr>
          <a:xfrm>
            <a:off x="6573520" y="1432560"/>
            <a:ext cx="609600" cy="47447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559040" y="3080385"/>
            <a:ext cx="3637280" cy="1858645"/>
          </a:xfrm>
          <a:prstGeom prst="rect">
            <a:avLst/>
          </a:prstGeom>
        </p:spPr>
        <p:txBody>
          <a:bodyPr>
            <a:noAutofit/>
          </a:bodyPr>
          <a:p>
            <a:r>
              <a:rPr sz="2000">
                <a:latin typeface="Calibri" panose="020F0502020204030204" charset="0"/>
                <a:cs typeface="Calibri" panose="020F0502020204030204" charset="0"/>
              </a:rPr>
              <a:t>These nail disorders can be included in the training dataset to prevent the model from confusing them with melanoma.</a:t>
            </a:r>
            <a:endParaRPr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Steps: 1. Dataset Preparation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23060"/>
            <a:ext cx="10768965" cy="4798060"/>
          </a:xfrm>
        </p:spPr>
        <p:txBody>
          <a:bodyPr>
            <a:normAutofit/>
          </a:bodyPr>
          <a:p>
            <a:r>
              <a:rPr lang="en-US" altLang="en-US" sz="2400">
                <a:latin typeface="Calibri" panose="020F0502020204030204" charset="0"/>
              </a:rPr>
              <a:t>A new Nail Melanoma dataset from Kaggle was integrated into our existing dataset.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The Bounding Box Algorithm was applied to detect and crop the nail</a:t>
            </a:r>
            <a:r>
              <a:rPr lang="de-DE" altLang="en-US" sz="2400">
                <a:latin typeface="Calibri" panose="020F0502020204030204" charset="0"/>
              </a:rPr>
              <a:t>s</a:t>
            </a:r>
            <a:r>
              <a:rPr lang="en-US" altLang="en-US" sz="2400">
                <a:latin typeface="Calibri" panose="020F0502020204030204" charset="0"/>
              </a:rPr>
              <a:t>, which were then resized for model input.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The processed images were randomly divided into training, validation, and test sets using a 70–20–10 split.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Additionally, datasets of </a:t>
            </a:r>
            <a:r>
              <a:rPr lang="en-US" altLang="en-US" sz="2400" b="1">
                <a:latin typeface="Calibri" panose="020F0502020204030204" charset="0"/>
              </a:rPr>
              <a:t>other common nail diseases</a:t>
            </a:r>
            <a:r>
              <a:rPr lang="en-US" altLang="en-US" sz="2400">
                <a:latin typeface="Calibri" panose="020F0502020204030204" charset="0"/>
              </a:rPr>
              <a:t> were included. The same bounding box, cropping, and resizing procedures were applied.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The final dataset consists of three classes:</a:t>
            </a:r>
            <a:r>
              <a:rPr lang="de-DE" altLang="en-US" sz="2400">
                <a:latin typeface="Calibri" panose="020F0502020204030204" charset="0"/>
              </a:rPr>
              <a:t> </a:t>
            </a:r>
            <a:r>
              <a:rPr lang="en-US" altLang="en-US" sz="2400" b="1">
                <a:latin typeface="Calibri" panose="020F0502020204030204" charset="0"/>
              </a:rPr>
              <a:t>Healthy, Melanoma, and Other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 b="1">
                <a:latin typeface="Calibri" panose="020F0502020204030204" charset="0"/>
              </a:rPr>
              <a:t>The Other class includes:</a:t>
            </a:r>
            <a:r>
              <a:rPr lang="en-US" altLang="en-US" sz="2400">
                <a:latin typeface="Calibri" panose="020F0502020204030204" charset="0"/>
              </a:rPr>
              <a:t> Onychomycosis, Leukonychia, Onycholysis, Nail Psoriasis, Beau’s Lines, and Koilonychia.</a:t>
            </a:r>
            <a:endParaRPr lang="en-US" altLang="en-US" sz="240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Current Dataset: 2503 Images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63040"/>
            <a:ext cx="8717280" cy="4351655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Each class has the following number of images:</a:t>
            </a:r>
            <a:endParaRPr lang="en-US" altLang="en-US" sz="2000"/>
          </a:p>
          <a:p>
            <a:pPr lvl="1"/>
            <a:r>
              <a:rPr lang="en-US" altLang="en-US" sz="1600"/>
              <a:t>onycholysis: 110</a:t>
            </a:r>
            <a:endParaRPr lang="en-US" altLang="en-US" sz="1600"/>
          </a:p>
          <a:p>
            <a:pPr lvl="1"/>
            <a:r>
              <a:rPr lang="en-US" altLang="en-US" sz="1600"/>
              <a:t>onychomycosis: 574</a:t>
            </a:r>
            <a:endParaRPr lang="en-US" altLang="en-US" sz="1600"/>
          </a:p>
          <a:p>
            <a:pPr lvl="1"/>
            <a:r>
              <a:rPr lang="en-US" altLang="en-US" sz="1600"/>
              <a:t>psoriasis: 684</a:t>
            </a:r>
            <a:endParaRPr lang="en-US" altLang="en-US" sz="1600"/>
          </a:p>
          <a:p>
            <a:pPr lvl="1"/>
            <a:r>
              <a:rPr lang="en-US" altLang="en-US" sz="1600"/>
              <a:t>beau</a:t>
            </a:r>
            <a:r>
              <a:rPr lang="de-DE" altLang="en-US" sz="1600">
                <a:latin typeface="Calibri" panose="020F0502020204030204" charset="0"/>
              </a:rPr>
              <a:t>_</a:t>
            </a:r>
            <a:r>
              <a:rPr lang="en-US" altLang="en-US" sz="1600"/>
              <a:t>s lines: 102</a:t>
            </a:r>
            <a:endParaRPr lang="en-US" altLang="en-US" sz="1600"/>
          </a:p>
          <a:p>
            <a:pPr lvl="1"/>
            <a:r>
              <a:rPr lang="en-US" altLang="en-US" sz="1600"/>
              <a:t>koilonychia: 38</a:t>
            </a:r>
            <a:endParaRPr lang="en-US" altLang="en-US" sz="1600"/>
          </a:p>
          <a:p>
            <a:pPr lvl="1"/>
            <a:r>
              <a:rPr lang="en-US" altLang="en-US" sz="1600"/>
              <a:t>leukonychia: 31</a:t>
            </a:r>
            <a:endParaRPr lang="en-US" altLang="en-US" sz="1600"/>
          </a:p>
          <a:p>
            <a:pPr lvl="1"/>
            <a:r>
              <a:rPr lang="en-US" altLang="en-US" sz="1600" b="1"/>
              <a:t>healthy: 491</a:t>
            </a:r>
            <a:endParaRPr lang="en-US" altLang="en-US" sz="1600" b="1"/>
          </a:p>
          <a:p>
            <a:pPr lvl="1"/>
            <a:r>
              <a:rPr lang="en-US" altLang="en-US" sz="1600" b="1"/>
              <a:t>NailMelanoma: 473</a:t>
            </a:r>
            <a:endParaRPr lang="en-US" altLang="en-US" sz="1600" b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9080" y="1691005"/>
            <a:ext cx="5181600" cy="1761490"/>
          </a:xfrm>
        </p:spPr>
        <p:txBody>
          <a:bodyPr/>
          <a:p>
            <a:r>
              <a:rPr lang="de-DE" altLang="en-US" sz="2000" b="1">
                <a:latin typeface="Calibri" panose="020F0502020204030204" charset="0"/>
              </a:rPr>
              <a:t>Nail Melanoma: </a:t>
            </a:r>
            <a:r>
              <a:rPr lang="de-DE" altLang="en-US" sz="2000">
                <a:latin typeface="Calibri" panose="020F0502020204030204" charset="0"/>
              </a:rPr>
              <a:t>473 (18%)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 b="1">
                <a:latin typeface="Calibri" panose="020F0502020204030204" charset="0"/>
              </a:rPr>
              <a:t>Healthy:</a:t>
            </a:r>
            <a:r>
              <a:rPr lang="de-DE" altLang="en-US" sz="2000">
                <a:latin typeface="Calibri" panose="020F0502020204030204" charset="0"/>
              </a:rPr>
              <a:t> 491  (19%)         </a:t>
            </a:r>
            <a:r>
              <a:rPr lang="de-DE" altLang="en-US" sz="2000" b="1">
                <a:latin typeface="Calibri" panose="020F0502020204030204" charset="0"/>
              </a:rPr>
              <a:t>Non Melanoma:</a:t>
            </a:r>
            <a:endParaRPr lang="de-DE" altLang="en-US" sz="2000" b="1">
              <a:latin typeface="Calibri" panose="020F0502020204030204" charset="0"/>
            </a:endParaRPr>
          </a:p>
          <a:p>
            <a:r>
              <a:rPr lang="de-DE" altLang="en-US" sz="2000" b="1">
                <a:latin typeface="Calibri" panose="020F0502020204030204" charset="0"/>
              </a:rPr>
              <a:t>Other:</a:t>
            </a:r>
            <a:r>
              <a:rPr lang="de-DE" altLang="en-US" sz="2000">
                <a:latin typeface="Calibri" panose="020F0502020204030204" charset="0"/>
              </a:rPr>
              <a:t> 1539  (61%)           (H+O) 2030  82%                   </a:t>
            </a:r>
            <a:endParaRPr lang="de-DE" altLang="en-US" sz="2000">
              <a:latin typeface="Calibri" panose="020F0502020204030204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9108440" y="2160270"/>
            <a:ext cx="193040" cy="8229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13105" y="5012055"/>
            <a:ext cx="36042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 b="1">
                <a:latin typeface="Calibri" panose="020F0502020204030204" charset="0"/>
              </a:rPr>
              <a:t>False Positives:</a:t>
            </a:r>
            <a:r>
              <a:rPr lang="de-DE" altLang="en-US">
                <a:latin typeface="Calibri" panose="020F0502020204030204" charset="0"/>
              </a:rPr>
              <a:t> 68 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r>
              <a:rPr lang="de-DE" altLang="en-US" b="1">
                <a:latin typeface="Calibri" panose="020F0502020204030204" charset="0"/>
                <a:sym typeface="+mn-ea"/>
              </a:rPr>
              <a:t>False Negatives: </a:t>
            </a:r>
            <a:r>
              <a:rPr lang="de-DE" altLang="en-US">
                <a:latin typeface="Calibri" panose="020F0502020204030204" charset="0"/>
                <a:sym typeface="+mn-ea"/>
              </a:rPr>
              <a:t>46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r>
              <a:rPr lang="de-DE" altLang="en-US" b="1">
                <a:latin typeface="Calibri" panose="020F0502020204030204" charset="0"/>
                <a:sym typeface="+mn-ea"/>
              </a:rPr>
              <a:t>True Positives: </a:t>
            </a:r>
            <a:r>
              <a:rPr lang="de-DE" altLang="en-US">
                <a:latin typeface="Calibri" panose="020F0502020204030204" charset="0"/>
                <a:sym typeface="+mn-ea"/>
              </a:rPr>
              <a:t>3143</a:t>
            </a:r>
            <a:endParaRPr lang="de-DE" altLang="en-US">
              <a:latin typeface="Calibri" panose="020F05020202040302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13105" y="4374515"/>
            <a:ext cx="6630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>
                <a:latin typeface="Calibri" panose="020F0502020204030204" charset="0"/>
              </a:rPr>
              <a:t>Bounding Box Algorithm could detect </a:t>
            </a:r>
            <a:r>
              <a:rPr lang="de-DE" altLang="en-US" b="1">
                <a:latin typeface="Calibri" panose="020F0502020204030204" charset="0"/>
              </a:rPr>
              <a:t>3257 Nails</a:t>
            </a:r>
            <a:endParaRPr lang="de-DE" altLang="en-US" b="1">
              <a:latin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/>
            </p:nvSpPr>
            <p:spPr>
              <a:xfrm>
                <a:off x="4002405" y="5012055"/>
                <a:ext cx="8725535" cy="580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en-US">
                    <a:latin typeface="Calibri" panose="020F0502020204030204" charset="0"/>
                    <a:cs typeface="Calibri" panose="020F0502020204030204" charset="0"/>
                  </a:rPr>
                  <a:t>Precision</a:t>
                </a:r>
                <a:r>
                  <a:rPr lang="de-DE" altLang="en-US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lang="en-US" altLang="en-US">
                    <a:latin typeface="Calibri" panose="020F0502020204030204" charset="0"/>
                    <a:cs typeface="Calibri" panose="020F0502020204030204" charset="0"/>
                  </a:rPr>
                  <a:t>=</a:t>
                </a:r>
                <a:r>
                  <a:rPr lang="de-DE" altLang="en-US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𝑇𝑃</m:t>
                        </m:r>
                      </m:num>
                      <m:den>
                        <m:r>
                          <a:rPr lang="en-US" alt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𝑇𝑃</m:t>
                        </m:r>
                        <m:r>
                          <a:rPr lang="en-US" altLang="en-US" sz="20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𝐹𝑃</m:t>
                        </m:r>
                      </m:den>
                    </m:f>
                    <m:r>
                      <a:rPr lang="en-US" altLang="en-US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= </m:t>
                    </m:r>
                    <m:r>
                      <a:rPr lang="en-US" altLang="en-US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en-US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en-US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979</m:t>
                    </m:r>
                  </m:oMath>
                </a14:m>
                <a:r>
                  <a:rPr lang="en-US" altLang="en-US" sz="2400">
                    <a:latin typeface="Calibri" panose="020F0502020204030204" charset="0"/>
                    <a:cs typeface="Calibri" panose="020F0502020204030204" charset="0"/>
                  </a:rPr>
                  <a:t>​</a:t>
                </a:r>
                <a:endParaRPr lang="en-US" altLang="en-US" sz="2400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405" y="5012055"/>
                <a:ext cx="8725535" cy="5803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7"/>
              <p:cNvSpPr txBox="1"/>
              <p:nvPr/>
            </p:nvSpPr>
            <p:spPr>
              <a:xfrm>
                <a:off x="4067810" y="5861685"/>
                <a:ext cx="6096000" cy="4876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de-DE" altLang="en-US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Recall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𝑇𝑃</m:t>
                        </m:r>
                      </m:num>
                      <m:den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𝑇𝑃</m:t>
                        </m:r>
                        <m:r>
                          <a:rPr lang="en-US" altLang="de-DE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𝐹𝑁</m:t>
                        </m:r>
                      </m:den>
                    </m:f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= 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986</m:t>
                    </m:r>
                  </m:oMath>
                </a14:m>
                <a:endParaRPr lang="en-US" altLang="de-DE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10" y="5861685"/>
                <a:ext cx="6096000" cy="4876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10"/>
              <p:cNvSpPr txBox="1"/>
              <p:nvPr/>
            </p:nvSpPr>
            <p:spPr>
              <a:xfrm>
                <a:off x="7477125" y="5012055"/>
                <a:ext cx="6287135" cy="492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de-DE" altLang="en-US">
                    <a:latin typeface="Calibri" panose="020F0502020204030204" charset="0"/>
                    <a:cs typeface="Calibri" panose="020F0502020204030204" charset="0"/>
                  </a:rPr>
                  <a:t>F1-Score= 2 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𝑃𝑟𝑒𝑐𝑖𝑠𝑖𝑜𝑛</m:t>
                        </m:r>
                        <m:r>
                          <a:rPr lang="en-US" altLang="de-DE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× </m:t>
                        </m:r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𝑃𝑟𝑒𝑐𝑖𝑠𝑖𝑜𝑛</m:t>
                        </m:r>
                        <m:r>
                          <a:rPr lang="en-US" altLang="de-DE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+ </m:t>
                        </m:r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𝑅𝑒𝑐𝑎𝑙𝑙</m:t>
                        </m:r>
                      </m:den>
                    </m:f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=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81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    </m:t>
                    </m:r>
                  </m:oMath>
                </a14:m>
                <a:endParaRPr lang="de-DE" altLang="en-US" sz="2400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11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125" y="5012055"/>
                <a:ext cx="6287135" cy="4927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9"/>
          <p:cNvSpPr txBox="1"/>
          <p:nvPr/>
        </p:nvSpPr>
        <p:spPr>
          <a:xfrm>
            <a:off x="7343140" y="5861685"/>
            <a:ext cx="41986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600">
                <a:sym typeface="+mn-ea"/>
              </a:rPr>
              <a:t>The overall </a:t>
            </a:r>
            <a:r>
              <a:rPr sz="1600" b="1">
                <a:sym typeface="+mn-ea"/>
              </a:rPr>
              <a:t>F1-score of 0.9</a:t>
            </a:r>
            <a:r>
              <a:rPr lang="de-DE" sz="1600" b="1">
                <a:latin typeface="Calibri" panose="020F0502020204030204" charset="0"/>
                <a:sym typeface="+mn-ea"/>
              </a:rPr>
              <a:t>81</a:t>
            </a:r>
            <a:r>
              <a:rPr sz="1600">
                <a:sym typeface="+mn-ea"/>
              </a:rPr>
              <a:t> indicates a </a:t>
            </a:r>
            <a:r>
              <a:rPr lang="de-DE" sz="1600">
                <a:latin typeface="Calibri" panose="020F0502020204030204" charset="0"/>
                <a:sym typeface="+mn-ea"/>
              </a:rPr>
              <a:t>good</a:t>
            </a:r>
            <a:r>
              <a:rPr sz="1600">
                <a:sym typeface="+mn-ea"/>
              </a:rPr>
              <a:t> balance between precision and recall.</a:t>
            </a:r>
            <a:endParaRPr lang="en-US" sz="16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False Positives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17" name="Content Placeholder 16" descr="koilonychia33"/>
          <p:cNvPicPr>
            <a:picLocks noChangeAspect="1"/>
          </p:cNvPicPr>
          <p:nvPr>
            <p:ph sz="half" idx="1"/>
          </p:nvPr>
        </p:nvPicPr>
        <p:blipFill>
          <a:blip r:embed="rId1"/>
          <a:srcRect t="8009" b="8009"/>
          <a:stretch>
            <a:fillRect/>
          </a:stretch>
        </p:blipFill>
        <p:spPr>
          <a:xfrm>
            <a:off x="5274945" y="4881245"/>
            <a:ext cx="1642110" cy="1379220"/>
          </a:xfrm>
        </p:spPr>
      </p:pic>
      <p:pic>
        <p:nvPicPr>
          <p:cNvPr id="5" name="Picture 4" descr="beau_s lines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" y="1443990"/>
            <a:ext cx="1149350" cy="1835785"/>
          </a:xfrm>
          <a:prstGeom prst="rect">
            <a:avLst/>
          </a:prstGeom>
        </p:spPr>
      </p:pic>
      <p:pic>
        <p:nvPicPr>
          <p:cNvPr id="7" name="Picture 6" descr="beau_s lines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945" y="1443990"/>
            <a:ext cx="1170305" cy="1835785"/>
          </a:xfrm>
          <a:prstGeom prst="rect">
            <a:avLst/>
          </a:prstGeom>
        </p:spPr>
      </p:pic>
      <p:pic>
        <p:nvPicPr>
          <p:cNvPr id="9" name="Picture 8" descr="beau_s lines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1443990"/>
            <a:ext cx="1276350" cy="2095500"/>
          </a:xfrm>
          <a:prstGeom prst="rect">
            <a:avLst/>
          </a:prstGeom>
        </p:spPr>
      </p:pic>
      <p:pic>
        <p:nvPicPr>
          <p:cNvPr id="11" name="Picture 10" descr="beau_s lines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445" y="1443990"/>
            <a:ext cx="1038225" cy="1847850"/>
          </a:xfrm>
          <a:prstGeom prst="rect">
            <a:avLst/>
          </a:prstGeom>
        </p:spPr>
      </p:pic>
      <p:pic>
        <p:nvPicPr>
          <p:cNvPr id="13" name="Picture 12" descr="beau_s lines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270" y="1443990"/>
            <a:ext cx="1724025" cy="2647950"/>
          </a:xfrm>
          <a:prstGeom prst="rect">
            <a:avLst/>
          </a:prstGeom>
        </p:spPr>
      </p:pic>
      <p:pic>
        <p:nvPicPr>
          <p:cNvPr id="15" name="Picture 14" descr="healthy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4408805"/>
            <a:ext cx="2819400" cy="1851660"/>
          </a:xfrm>
          <a:prstGeom prst="rect">
            <a:avLst/>
          </a:prstGeom>
        </p:spPr>
      </p:pic>
      <p:pic>
        <p:nvPicPr>
          <p:cNvPr id="19" name="Content Placeholder 18" descr="NailMelanoma160"/>
          <p:cNvPicPr>
            <a:picLocks noChangeAspect="1"/>
          </p:cNvPicPr>
          <p:nvPr>
            <p:ph sz="half" idx="2"/>
          </p:nvPr>
        </p:nvPicPr>
        <p:blipFill>
          <a:blip r:embed="rId8"/>
          <a:srcRect t="8009" b="8009"/>
          <a:stretch>
            <a:fillRect/>
          </a:stretch>
        </p:blipFill>
        <p:spPr>
          <a:xfrm>
            <a:off x="8382000" y="4608830"/>
            <a:ext cx="1966595" cy="1651635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200">
                <a:latin typeface="Calibri" panose="020F0502020204030204" charset="0"/>
              </a:rPr>
              <a:t>Bounding Box Algorithm: Confidence Score Distribution on the current Dataset</a:t>
            </a:r>
            <a:endParaRPr lang="de-DE" altLang="en-US" sz="3200">
              <a:latin typeface="Calibri" panose="020F05020202040302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156960" y="1506855"/>
            <a:ext cx="5466080" cy="350393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192655"/>
            <a:ext cx="5181600" cy="4351338"/>
          </a:xfrm>
        </p:spPr>
        <p:txBody>
          <a:bodyPr/>
          <a:p>
            <a:r>
              <a:rPr lang="en-US" altLang="en-US" sz="2400"/>
              <a:t>Overall mean confidence: 0.7809</a:t>
            </a:r>
            <a:endParaRPr lang="en-US" altLang="en-US" sz="2400"/>
          </a:p>
          <a:p>
            <a:r>
              <a:rPr lang="en-US" altLang="en-US" sz="2400"/>
              <a:t>Median confidence: 0.8196</a:t>
            </a:r>
            <a:endParaRPr lang="en-US" altLang="en-US" sz="2400"/>
          </a:p>
          <a:p>
            <a:r>
              <a:rPr lang="en-US" altLang="en-US" sz="2400"/>
              <a:t>Std deviation: 0.1311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Healthy                                        Other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35" y="4937760"/>
            <a:ext cx="5181600" cy="4351338"/>
          </a:xfrm>
        </p:spPr>
        <p:txBody>
          <a:bodyPr/>
          <a:p>
            <a:r>
              <a:rPr lang="en-US" altLang="en-US" sz="2000"/>
              <a:t>Overall mean confidence: 0.7601</a:t>
            </a:r>
            <a:endParaRPr lang="en-US" altLang="en-US" sz="2000"/>
          </a:p>
          <a:p>
            <a:r>
              <a:rPr lang="en-US" altLang="en-US" sz="2000"/>
              <a:t>Median confidence: 0.7735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262255" y="1422400"/>
            <a:ext cx="4981575" cy="3281680"/>
          </a:xfrm>
          <a:prstGeom prst="rect">
            <a:avLst/>
          </a:prstGeom>
        </p:spPr>
      </p:pic>
      <p:sp>
        <p:nvSpPr>
          <p:cNvPr id="8" name="Content Placeholder 7"/>
          <p:cNvSpPr/>
          <p:nvPr>
            <p:ph sz="half" idx="1"/>
          </p:nvPr>
        </p:nvSpPr>
        <p:spPr>
          <a:xfrm>
            <a:off x="6623685" y="5036185"/>
            <a:ext cx="5181600" cy="4351338"/>
          </a:xfrm>
        </p:spPr>
        <p:txBody>
          <a:bodyPr/>
          <a:p>
            <a:r>
              <a:rPr lang="en-US" altLang="en-US" sz="2000"/>
              <a:t>Overall mean confidence: 0.7938</a:t>
            </a:r>
            <a:endParaRPr lang="en-US" altLang="en-US" sz="2000"/>
          </a:p>
          <a:p>
            <a:r>
              <a:rPr lang="en-US" altLang="en-US" sz="2000"/>
              <a:t>Median confidence: 0.8286</a:t>
            </a:r>
            <a:endParaRPr lang="en-US" altLang="en-US" sz="2000"/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6522720" y="1422400"/>
            <a:ext cx="5211445" cy="328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Nail Melanoma                       Non Melanoma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066665"/>
            <a:ext cx="5181600" cy="4351338"/>
          </a:xfrm>
        </p:spPr>
        <p:txBody>
          <a:bodyPr/>
          <a:p>
            <a:r>
              <a:rPr lang="en-US" altLang="en-US" sz="2000">
                <a:sym typeface="+mn-ea"/>
              </a:rPr>
              <a:t>Overall mean confidence: 0.7</a:t>
            </a:r>
            <a:r>
              <a:rPr lang="de-DE" altLang="en-US" sz="2000">
                <a:latin typeface="Calibri" panose="020F0502020204030204" charset="0"/>
                <a:sym typeface="+mn-ea"/>
              </a:rPr>
              <a:t>756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Median confidence: 0.</a:t>
            </a:r>
            <a:r>
              <a:rPr lang="de-DE" altLang="en-US" sz="2000">
                <a:latin typeface="Calibri" panose="020F0502020204030204" charset="0"/>
                <a:sym typeface="+mn-ea"/>
              </a:rPr>
              <a:t>8171</a:t>
            </a:r>
            <a:endParaRPr lang="en-US" altLang="en-US" sz="2000"/>
          </a:p>
          <a:p>
            <a:endParaRPr lang="en-US" altLang="en-US" sz="20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1900" y="5066665"/>
            <a:ext cx="5181600" cy="4351338"/>
          </a:xfrm>
        </p:spPr>
        <p:txBody>
          <a:bodyPr/>
          <a:p>
            <a:r>
              <a:rPr lang="en-US" altLang="en-US" sz="2000">
                <a:sym typeface="+mn-ea"/>
              </a:rPr>
              <a:t>Overall mean confidence: 0.</a:t>
            </a:r>
            <a:r>
              <a:rPr lang="de-DE" altLang="en-US" sz="2000">
                <a:latin typeface="Calibri" panose="020F0502020204030204" charset="0"/>
                <a:sym typeface="+mn-ea"/>
              </a:rPr>
              <a:t>8576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Median confidence: 0.</a:t>
            </a:r>
            <a:r>
              <a:rPr lang="de-DE" altLang="en-US" sz="2000">
                <a:latin typeface="Calibri" panose="020F0502020204030204" charset="0"/>
                <a:sym typeface="+mn-ea"/>
              </a:rPr>
              <a:t>8834</a:t>
            </a:r>
            <a:endParaRPr lang="en-US" altLang="en-US" sz="2000"/>
          </a:p>
          <a:p>
            <a:endParaRPr lang="en-US" altLang="en-US" sz="20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412240"/>
            <a:ext cx="4860290" cy="347472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428740" y="1412240"/>
            <a:ext cx="5064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2. </a:t>
            </a:r>
            <a:r>
              <a:rPr lang="de-DE" altLang="en-US" sz="3600">
                <a:latin typeface="Calibri" panose="020F0502020204030204" charset="0"/>
              </a:rPr>
              <a:t>Experimenting with CNN Models: Multi Class Classification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033760" cy="4351655"/>
          </a:xfrm>
        </p:spPr>
        <p:txBody>
          <a:bodyPr/>
          <a:p>
            <a:r>
              <a:rPr lang="en-US" altLang="en-US">
                <a:latin typeface="Calibri" panose="020F0502020204030204" charset="0"/>
                <a:sym typeface="+mn-ea"/>
              </a:rPr>
              <a:t>The following CNN models were evaluated on the current dataset, which includes three classes (healthy, melanoma, and other), and their performances were compared.</a:t>
            </a:r>
            <a:endParaRPr lang="en-US" altLang="en-US">
              <a:latin typeface="Calibri" panose="020F0502020204030204" charset="0"/>
              <a:sym typeface="+mn-ea"/>
            </a:endParaRPr>
          </a:p>
          <a:p>
            <a:pPr marL="914400" lvl="1" indent="-457200">
              <a:buAutoNum type="arabicPeriod"/>
            </a:pPr>
            <a:r>
              <a:rPr lang="de-DE" altLang="en-US">
                <a:latin typeface="Calibri" panose="020F0502020204030204" charset="0"/>
                <a:sym typeface="+mn-ea"/>
              </a:rPr>
              <a:t>Vision Transformer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pPr marL="971550" lvl="1" indent="-514350">
              <a:buAutoNum type="arabicPeriod"/>
            </a:pPr>
            <a:r>
              <a:rPr lang="de-DE" altLang="en-US">
                <a:latin typeface="Calibri" panose="020F0502020204030204" charset="0"/>
                <a:sym typeface="+mn-ea"/>
              </a:rPr>
              <a:t>YOLO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pPr marL="971550" lvl="1" indent="-514350">
              <a:buAutoNum type="arabicPeriod"/>
            </a:pPr>
            <a:r>
              <a:rPr lang="de-DE" altLang="en-US">
                <a:latin typeface="Calibri" panose="020F0502020204030204" charset="0"/>
                <a:sym typeface="+mn-ea"/>
              </a:rPr>
              <a:t>ResNet18 </a:t>
            </a: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Dataset Structure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9560" y="1378585"/>
            <a:ext cx="10515600" cy="522541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train/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/>
              <a:t>│  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healthy/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│   └── </a:t>
            </a:r>
            <a:r>
              <a:rPr lang="de-DE" altLang="en-US">
                <a:latin typeface="Calibri" panose="020F0502020204030204" charset="0"/>
              </a:rPr>
              <a:t>other</a:t>
            </a:r>
            <a:r>
              <a:rPr lang="en-US" altLang="en-US"/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test/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/>
              <a:t>│  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healthy/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/>
              <a:t>│   └── </a:t>
            </a:r>
            <a:r>
              <a:rPr lang="de-DE" altLang="en-US">
                <a:latin typeface="Calibri" panose="020F0502020204030204" charset="0"/>
              </a:rPr>
              <a:t>other</a:t>
            </a:r>
            <a:r>
              <a:rPr lang="en-US" altLang="en-US"/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val/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</a:rPr>
              <a:t>   </a:t>
            </a:r>
            <a:r>
              <a:rPr lang="en-US" altLang="en-US"/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healthy/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  <a:sym typeface="+mn-ea"/>
              </a:rPr>
              <a:t>   </a:t>
            </a:r>
            <a:r>
              <a:rPr lang="en-US" altLang="en-US"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/>
              <a:t>   └── </a:t>
            </a:r>
            <a:r>
              <a:rPr lang="de-DE" altLang="en-US">
                <a:latin typeface="Calibri" panose="020F0502020204030204" charset="0"/>
              </a:rPr>
              <a:t>other</a:t>
            </a:r>
            <a:r>
              <a:rPr lang="en-US" altLang="en-US"/>
              <a:t>/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Vision Transformer 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046345"/>
            <a:ext cx="11155680" cy="1263015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Both train and test loss functions descrease steadily </a:t>
            </a:r>
            <a:r>
              <a:rPr lang="en-US" altLang="en-US" sz="2000"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sym typeface="+mn-ea"/>
              </a:rPr>
              <a:t> </a:t>
            </a:r>
            <a:r>
              <a:rPr lang="de-DE" altLang="en-US" sz="2000">
                <a:latin typeface="Calibri" panose="020F0502020204030204" charset="0"/>
              </a:rPr>
              <a:t> the model is learning well, no sign of overfitting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Both train and test accuracy increase </a:t>
            </a:r>
            <a:r>
              <a:rPr lang="en-US" altLang="en-US" sz="2000"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sym typeface="+mn-ea"/>
              </a:rPr>
              <a:t> learning is stable, the model is generalizing well</a:t>
            </a:r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809240" y="1524000"/>
            <a:ext cx="6360795" cy="32619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  <a:sym typeface="+mn-ea"/>
              </a:rPr>
              <a:t>Vision Transformer</a:t>
            </a:r>
            <a:endParaRPr lang="en-US"/>
          </a:p>
        </p:txBody>
      </p:sp>
      <p:pic>
        <p:nvPicPr>
          <p:cNvPr id="12" name="Content Placeholder 1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254240" y="4072255"/>
            <a:ext cx="4099560" cy="2255520"/>
          </a:xfrm>
          <a:prstGeom prst="rect">
            <a:avLst/>
          </a:prstGeom>
        </p:spPr>
      </p:pic>
      <p:sp>
        <p:nvSpPr>
          <p:cNvPr id="8" name="Content Placeholder 7"/>
          <p:cNvSpPr/>
          <p:nvPr>
            <p:ph sz="half" idx="1"/>
          </p:nvPr>
        </p:nvSpPr>
        <p:spPr/>
        <p:txBody>
          <a:bodyPr/>
          <a:p>
            <a:r>
              <a:rPr lang="de-DE" altLang="en-US" sz="2000">
                <a:latin typeface="Calibri" panose="020F0502020204030204" charset="0"/>
              </a:rPr>
              <a:t>The model can accurately distinguish between healthy, melanoma and other diseases.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No severe bias or no major overfitting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The main source of confusion: melanoma cases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</a:rPr>
              <a:t>All classes have F1-scores above 0.94, showing </a:t>
            </a:r>
            <a:r>
              <a:rPr lang="de-DE" altLang="en-US" sz="2000">
                <a:latin typeface="Calibri" panose="020F0502020204030204" charset="0"/>
              </a:rPr>
              <a:t>a great</a:t>
            </a:r>
            <a:r>
              <a:rPr lang="en-US" altLang="en-US" sz="2000">
                <a:latin typeface="Calibri" panose="020F0502020204030204" charset="0"/>
              </a:rPr>
              <a:t> and balanced performance</a:t>
            </a:r>
            <a:endParaRPr lang="en-US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Melanoma recall (0.94) could be optimized </a:t>
            </a:r>
            <a:r>
              <a:rPr lang="en-US" altLang="en-US" sz="2000"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sym typeface="+mn-ea"/>
              </a:rPr>
              <a:t> missing even few cases are medically critical</a:t>
            </a:r>
            <a:endParaRPr lang="de-DE" altLang="en-US" sz="2000">
              <a:latin typeface="Calibri" panose="020F0502020204030204" charset="0"/>
              <a:sym typeface="+mn-ea"/>
            </a:endParaRPr>
          </a:p>
          <a:p>
            <a:endParaRPr lang="de-DE" altLang="en-US" sz="2000">
              <a:latin typeface="Calibri" panose="020F0502020204030204" charset="0"/>
              <a:sym typeface="+mn-ea"/>
            </a:endParaRPr>
          </a:p>
          <a:p>
            <a:r>
              <a:rPr lang="de-DE" altLang="en-US" sz="2400" b="1">
                <a:latin typeface="Calibri" panose="020F0502020204030204" charset="0"/>
                <a:sym typeface="+mn-ea"/>
              </a:rPr>
              <a:t>Conclusion:</a:t>
            </a:r>
            <a:r>
              <a:rPr lang="de-DE" altLang="en-US" sz="2400">
                <a:latin typeface="Calibri" panose="020F0502020204030204" charset="0"/>
                <a:sym typeface="+mn-ea"/>
              </a:rPr>
              <a:t> model achieved a high accuracy</a:t>
            </a:r>
            <a:endParaRPr lang="en-US" altLang="en-US" sz="2400">
              <a:latin typeface="Calibri" panose="020F0502020204030204" charset="0"/>
            </a:endParaRPr>
          </a:p>
          <a:p>
            <a:endParaRPr lang="en-US" altLang="en-US" sz="2400">
              <a:latin typeface="Calibri" panose="020F050202020403020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7219315" y="365125"/>
            <a:ext cx="4134485" cy="34296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YOLO 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49160" y="1825625"/>
            <a:ext cx="4104640" cy="4351655"/>
          </a:xfrm>
        </p:spPr>
        <p:txBody>
          <a:bodyPr/>
          <a:p>
            <a:r>
              <a:rPr lang="de-DE" altLang="en-US" sz="1800">
                <a:latin typeface="Calibri" panose="020F0502020204030204" charset="0"/>
                <a:sym typeface="+mn-ea"/>
              </a:rPr>
              <a:t>validation accuracy function is increasing </a:t>
            </a:r>
            <a:r>
              <a:rPr lang="en-US" altLang="en-US" sz="1800">
                <a:sym typeface="+mn-ea"/>
              </a:rPr>
              <a:t>→</a:t>
            </a:r>
            <a:r>
              <a:rPr lang="de-DE" altLang="en-US" sz="1800">
                <a:latin typeface="Calibri" panose="020F0502020204030204" charset="0"/>
                <a:sym typeface="+mn-ea"/>
              </a:rPr>
              <a:t> model is learning effectively, generalizes well</a:t>
            </a:r>
            <a:endParaRPr lang="de-DE" altLang="en-US" sz="1800">
              <a:latin typeface="Calibri" panose="020F0502020204030204" charset="0"/>
              <a:sym typeface="+mn-ea"/>
            </a:endParaRPr>
          </a:p>
          <a:p>
            <a:r>
              <a:rPr lang="de-DE" altLang="en-US" sz="1800">
                <a:latin typeface="Calibri" panose="020F0502020204030204" charset="0"/>
                <a:sym typeface="+mn-ea"/>
              </a:rPr>
              <a:t>loss functions are decreasing with epochs</a:t>
            </a:r>
            <a:endParaRPr lang="de-DE" altLang="en-US" sz="1800">
              <a:latin typeface="Calibri" panose="020F0502020204030204" charset="0"/>
              <a:sym typeface="+mn-ea"/>
            </a:endParaRPr>
          </a:p>
          <a:p>
            <a:r>
              <a:rPr lang="de-DE" altLang="en-US" sz="1800">
                <a:latin typeface="Calibri" panose="020F0502020204030204" charset="0"/>
                <a:sym typeface="+mn-ea"/>
              </a:rPr>
              <a:t>despite of some fluctuations in the validation loss, the steady decrease is a sign of learning</a:t>
            </a:r>
            <a:endParaRPr lang="de-DE" altLang="en-US" sz="1800">
              <a:latin typeface="Calibri" panose="020F0502020204030204" charset="0"/>
              <a:sym typeface="+mn-ea"/>
            </a:endParaRPr>
          </a:p>
        </p:txBody>
      </p:sp>
      <p:pic>
        <p:nvPicPr>
          <p:cNvPr id="11" name="Content Placeholder 10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52805" y="1691005"/>
            <a:ext cx="5875655" cy="36747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YOLO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320" y="1825625"/>
            <a:ext cx="5181600" cy="4351338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healthy nails: almost perfect classification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melanoma nails: a few were misclassified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other nails: strong performance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All three classes have high F1-scores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Melanoma class has slightly lower recall</a:t>
            </a:r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 b="1">
                <a:latin typeface="Calibri" panose="020F0502020204030204" charset="0"/>
                <a:sym typeface="+mn-ea"/>
              </a:rPr>
              <a:t>Conclusion:</a:t>
            </a:r>
            <a:r>
              <a:rPr lang="de-DE" altLang="en-US" sz="2000">
                <a:latin typeface="Calibri" panose="020F0502020204030204" charset="0"/>
              </a:rPr>
              <a:t> model makes accurate decisions and generalizes well. The few missed melanoma cases should be examined.</a:t>
            </a:r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1"/>
          <a:stretch>
            <a:fillRect/>
          </a:stretch>
        </p:blipFill>
        <p:spPr>
          <a:xfrm>
            <a:off x="6812915" y="723900"/>
            <a:ext cx="4064635" cy="3063240"/>
          </a:xfrm>
          <a:prstGeom prst="rect">
            <a:avLst/>
          </a:prstGeom>
        </p:spPr>
      </p:pic>
      <p:pic>
        <p:nvPicPr>
          <p:cNvPr id="14" name="Content Placeholder 13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96355" y="4065905"/>
            <a:ext cx="4594860" cy="17297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ResNet18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760595"/>
            <a:ext cx="10942320" cy="2308860"/>
          </a:xfrm>
        </p:spPr>
        <p:txBody>
          <a:bodyPr>
            <a:normAutofit fontScale="50000"/>
          </a:bodyPr>
          <a:p>
            <a:r>
              <a:rPr lang="de-DE" altLang="en-US" sz="3600">
                <a:latin typeface="Calibri" panose="020F0502020204030204" charset="0"/>
                <a:cs typeface="Calibri" panose="020F0502020204030204" charset="0"/>
              </a:rPr>
              <a:t>training loss starts high and decreases slowly</a:t>
            </a:r>
            <a:endParaRPr lang="de-DE" altLang="en-US" sz="36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de-DE" altLang="en-US" sz="36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lang="de-DE" altLang="en-US" sz="360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validation loss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</a:rPr>
              <a:t> starts lower and decreases more sharply and stays consistently below </a:t>
            </a:r>
            <a:r>
              <a:rPr lang="de-DE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training loss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 might be a sign of underfitting, model has not learnt enough</a:t>
            </a:r>
            <a:endParaRPr lang="de-DE" altLang="en-US" sz="36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training accuracy is improving with epochs</a:t>
            </a:r>
            <a:endParaRPr lang="de-DE" altLang="en-US" sz="36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validation accuracy is increasing as well, and it stays always higher than training accuracy </a:t>
            </a:r>
            <a:r>
              <a:rPr lang="en-US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 indicates to underfitting</a:t>
            </a:r>
            <a:endParaRPr lang="de-DE" altLang="en-US" sz="36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endParaRPr lang="de-DE" altLang="en-US">
              <a:latin typeface="Calibri" panose="020F0502020204030204" charset="0"/>
            </a:endParaRPr>
          </a:p>
          <a:p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884170" y="1315085"/>
            <a:ext cx="685038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ResNet18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63105" y="4211955"/>
            <a:ext cx="4221480" cy="175260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371715" y="292100"/>
            <a:ext cx="4062730" cy="34696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21360" y="1991360"/>
            <a:ext cx="610616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classifies healthy and other cases accurately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but it confuses melanoma with other classes </a:t>
            </a:r>
            <a:endParaRPr lang="de-DE" altLang="en-US">
              <a:latin typeface="Calibri" panose="020F050202020403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possible causes: 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dataset imbalance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visual overlap between nail disorders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low number of epochs,  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insufficient choice of hyperparameters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sym typeface="+mn-ea"/>
              </a:rPr>
              <a:t>Conclusion: </a:t>
            </a:r>
            <a:r>
              <a:rPr lang="de-DE" altLang="en-US">
                <a:latin typeface="Calibri" panose="020F0502020204030204" charset="0"/>
                <a:sym typeface="+mn-ea"/>
              </a:rPr>
              <a:t>Model‘s overall accuracy is not bad, it shows a strrong performance for healthy and other cases. But it has a lower recall for melanoma samples 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should be further improved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200">
                <a:latin typeface="Calibri" panose="020F0502020204030204" charset="0"/>
              </a:rPr>
              <a:t>3. Binary Classification</a:t>
            </a:r>
            <a:endParaRPr lang="de-DE" altLang="en-US" sz="3200">
              <a:latin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10665"/>
            <a:ext cx="10515600" cy="4666615"/>
          </a:xfrm>
        </p:spPr>
        <p:txBody>
          <a:bodyPr/>
          <a:p>
            <a:r>
              <a:rPr lang="en-US" altLang="en-US" sz="2400">
                <a:latin typeface="Calibri" panose="020F0502020204030204" charset="0"/>
              </a:rPr>
              <a:t>For the binary classification task, the healthy and other classes were merged into a single class called “non-melanoma”, while the melanoma class remained unchanged.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The CNN models were then evaluated using two classes: </a:t>
            </a:r>
            <a:r>
              <a:rPr lang="en-US" altLang="en-US" sz="2400" b="1">
                <a:latin typeface="Calibri" panose="020F0502020204030204" charset="0"/>
              </a:rPr>
              <a:t>melanoma and non-melanoma.</a:t>
            </a:r>
            <a:endParaRPr lang="en-US" altLang="en-US" sz="2400" b="1">
              <a:latin typeface="Calibri" panose="020F050202020403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338320" y="3265805"/>
            <a:ext cx="6096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train/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│──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│   └── </a:t>
            </a:r>
            <a:r>
              <a:rPr lang="de-DE" altLang="en-US">
                <a:latin typeface="Calibri" panose="020F0502020204030204" charset="0"/>
                <a:sym typeface="+mn-ea"/>
              </a:rPr>
              <a:t>non 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test/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│──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└── </a:t>
            </a:r>
            <a:r>
              <a:rPr lang="de-DE" altLang="en-US">
                <a:latin typeface="Calibri" panose="020F0502020204030204" charset="0"/>
                <a:sym typeface="+mn-ea"/>
              </a:rPr>
              <a:t>non 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val/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  <a:sym typeface="+mn-ea"/>
              </a:rPr>
              <a:t>   </a:t>
            </a:r>
            <a:r>
              <a:rPr lang="en-US" altLang="en-US">
                <a:sym typeface="+mn-ea"/>
              </a:rPr>
              <a:t> │──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   └── </a:t>
            </a:r>
            <a:r>
              <a:rPr lang="de-DE" altLang="en-US">
                <a:latin typeface="Calibri" panose="020F0502020204030204" charset="0"/>
                <a:sym typeface="+mn-ea"/>
              </a:rPr>
              <a:t>non melanoma</a:t>
            </a:r>
            <a:r>
              <a:rPr lang="en-US" altLang="en-US">
                <a:sym typeface="+mn-ea"/>
              </a:rPr>
              <a:t>/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  <a:sym typeface="+mn-ea"/>
              </a:rPr>
              <a:t>Vision Transformer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65835" y="5391785"/>
            <a:ext cx="10515600" cy="1100455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both train and test loss functions drop steadily </a:t>
            </a:r>
            <a:r>
              <a:rPr lang="en-US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 model is learning effectively</a:t>
            </a:r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r>
              <a:rPr lang="de-DE" altLang="en-US" sz="2000">
                <a:latin typeface="Calibri" panose="020F0502020204030204" charset="0"/>
              </a:rPr>
              <a:t> both accuracy curves are rising </a:t>
            </a:r>
            <a:r>
              <a:rPr lang="en-US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 strong performance, no sign of overfitting</a:t>
            </a:r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636520" y="1381760"/>
            <a:ext cx="6919595" cy="35159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Vision Transformer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99020" y="4571365"/>
            <a:ext cx="4267200" cy="168402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647940" y="588645"/>
            <a:ext cx="4018280" cy="344932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223010" y="1940560"/>
            <a:ext cx="571944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performs very well at identifying both classes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few misclassiffications are minimal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slightly higher number of false positives are important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reached a high F1-Score for both classes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good balance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sym typeface="+mn-ea"/>
              </a:rPr>
              <a:t>Conclusion: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the model generalizes well and achieves a high accuracy in the melanoma detection, however melanoma recall should be improved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YOLO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076440" y="1763395"/>
            <a:ext cx="4277360" cy="4351655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accuracy curve is rising </a:t>
            </a:r>
            <a:r>
              <a:rPr lang="en-US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 model is learning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both training and validation loss curves drop steadily </a:t>
            </a:r>
            <a:r>
              <a:rPr lang="en-US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 model is minimizing its errors</a:t>
            </a:r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1691005"/>
            <a:ext cx="5966460" cy="36499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YOLO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12585" y="4355465"/>
            <a:ext cx="4198620" cy="142494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6712585" y="627380"/>
            <a:ext cx="4384675" cy="33578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62000" y="1849120"/>
            <a:ext cx="461264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is highly accurate across both classes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 melanoma recall is slighty lower than non-melanoma recall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sym typeface="+mn-ea"/>
              </a:rPr>
              <a:t>Conclusion:</a:t>
            </a:r>
            <a:r>
              <a:rPr lang="de-DE" altLang="en-US">
                <a:latin typeface="Calibri" panose="020F0502020204030204" charset="0"/>
              </a:rPr>
              <a:t> model is highly reliable and generalizes well, since it missed a few samples only.  It is suitable for the medical classification task, but melanoma recall should be enhanced.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ResNet18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2" name="Content Placeholder 1"/>
          <p:cNvPicPr/>
          <p:nvPr>
            <p:ph idx="1"/>
          </p:nvPr>
        </p:nvPicPr>
        <p:blipFill>
          <a:blip r:embed="rId1"/>
          <a:srcRect l="208" r="208"/>
          <a:stretch>
            <a:fillRect/>
          </a:stretch>
        </p:blipFill>
        <p:spPr>
          <a:xfrm>
            <a:off x="2118360" y="1348105"/>
            <a:ext cx="7274560" cy="3112135"/>
          </a:xfrm>
        </p:spPr>
      </p:pic>
      <p:sp>
        <p:nvSpPr>
          <p:cNvPr id="3" name="Text Box 2"/>
          <p:cNvSpPr txBox="1"/>
          <p:nvPr/>
        </p:nvSpPr>
        <p:spPr>
          <a:xfrm>
            <a:off x="914400" y="4897120"/>
            <a:ext cx="100380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both training and validation loss functions are decreasing over time, but </a:t>
            </a:r>
            <a:r>
              <a:rPr lang="de-DE" altLang="en-US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</a:rPr>
              <a:t>validation loss</a:t>
            </a:r>
            <a:r>
              <a:rPr lang="de-DE" altLang="en-US">
                <a:latin typeface="Calibri" panose="020F0502020204030204" charset="0"/>
              </a:rPr>
              <a:t> is consistently higher than </a:t>
            </a:r>
            <a:r>
              <a:rPr lang="de-DE" altLang="en-US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</a:rPr>
              <a:t>training loss</a:t>
            </a: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might be sign of underfitting, model has not learnt enough from the training set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both training and validation accuracy are increasing gradually, even though validation accuracy fluctuates in the beginning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the model is learning, but relatively modest accuracy suggests underfitting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ResNet18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70420" y="4373245"/>
            <a:ext cx="4130040" cy="153162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170420" y="261620"/>
            <a:ext cx="4353560" cy="36118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94080" y="1930400"/>
            <a:ext cx="52019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detects non-melanoma cases very accurately. 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but it misses most of the melanoma cases </a:t>
            </a: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model learnt the majority class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 this is a sign of class imbalance or insufficiant learning of the model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sym typeface="+mn-ea"/>
              </a:rPr>
              <a:t>Conclusion: </a:t>
            </a:r>
            <a:r>
              <a:rPr lang="de-DE" altLang="en-US">
                <a:latin typeface="Calibri" panose="020F0502020204030204" charset="0"/>
                <a:sym typeface="+mn-ea"/>
              </a:rPr>
              <a:t>model is reliable for detecting non-melanoma samples but for melanoma detection it isn‘t accurate. It is not adequate for medical use</a:t>
            </a:r>
            <a:endParaRPr lang="de-DE" altLang="en-US"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2800">
                <a:latin typeface="Calibri" panose="020F0502020204030204" charset="0"/>
              </a:rPr>
              <a:t>Performance Comparison of the CNN Models: 1. Multi-Class Classification</a:t>
            </a:r>
            <a:endParaRPr lang="de-DE" altLang="en-US" sz="2800">
              <a:latin typeface="Calibri" panose="020F05020202040302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1541145" y="1559560"/>
          <a:ext cx="8664575" cy="4017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385"/>
                <a:gridCol w="1487170"/>
                <a:gridCol w="1452245"/>
                <a:gridCol w="1545590"/>
                <a:gridCol w="1311910"/>
                <a:gridCol w="1311275"/>
              </a:tblGrid>
              <a:tr h="92202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Model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Classes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Precision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Recall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F1-Score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Accuracy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1031875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Vision Transformer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healthy: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other: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0,97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0,96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0">
                          <a:latin typeface="Calibri" panose="020F0502020204030204" charset="0"/>
                        </a:rPr>
                        <a:t>0,97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0">
                          <a:latin typeface="Calibri" panose="020F0502020204030204" charset="0"/>
                        </a:rPr>
                        <a:t>0,94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0,97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0">
                          <a:latin typeface="Calibri" panose="020F0502020204030204" charset="0"/>
                        </a:rPr>
                        <a:t>0,95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0">
                          <a:latin typeface="Calibri" panose="020F0502020204030204" charset="0"/>
                        </a:rPr>
                        <a:t>0,97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 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</a:t>
                      </a:r>
                      <a:r>
                        <a:rPr lang="de-DE" altLang="en-US" b="1">
                          <a:latin typeface="Calibri" panose="020F0502020204030204" charset="0"/>
                        </a:rPr>
                        <a:t>   </a:t>
                      </a:r>
                      <a:r>
                        <a:rPr lang="de-DE" altLang="en-US" b="0">
                          <a:latin typeface="Calibri" panose="020F0502020204030204" charset="0"/>
                        </a:rPr>
                        <a:t> 0,97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103124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YOLO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healthy: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other: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0,96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0,95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0,97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0,96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</a:t>
                      </a: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1031875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ResNet18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healthy: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other: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0,91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0,83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0,91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0,97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0,71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0,90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0,94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0,76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0,91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0,90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1112520" y="5831840"/>
            <a:ext cx="9966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YOLO achieves the highest overall accuracy and slightly outperforms Vision Transformer</a:t>
            </a: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200">
                <a:latin typeface="Calibri" panose="020F0502020204030204" charset="0"/>
              </a:rPr>
              <a:t>2. Binary Classification</a:t>
            </a:r>
            <a:endParaRPr lang="de-DE" altLang="en-US" sz="3200">
              <a:latin typeface="Calibri" panose="020F05020202040302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400"/>
                <a:gridCol w="1701800"/>
                <a:gridCol w="1752600"/>
                <a:gridCol w="1752600"/>
                <a:gridCol w="1752600"/>
                <a:gridCol w="1752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Model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Classes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Precision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Recall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F1-Score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Accuracy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Vision Transformer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non 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0,97 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0,92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0,95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    </a:t>
                      </a: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YOLO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sz="1800">
                          <a:latin typeface="Calibri" panose="020F0502020204030204" charset="0"/>
                          <a:sym typeface="+mn-ea"/>
                        </a:rPr>
                        <a:t>melanoma:</a:t>
                      </a:r>
                      <a:endParaRPr lang="de-DE" altLang="en-US" sz="1800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non 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0,97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0,93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0,95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 </a:t>
                      </a:r>
                      <a:r>
                        <a:rPr lang="de-DE" altLang="en-US" b="1">
                          <a:latin typeface="Calibri" panose="020F0502020204030204" charset="0"/>
                        </a:rPr>
                        <a:t>   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ResNet18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sz="1800">
                          <a:latin typeface="Calibri" panose="020F0502020204030204" charset="0"/>
                          <a:sym typeface="+mn-ea"/>
                        </a:rPr>
                        <a:t>melanoma:</a:t>
                      </a:r>
                      <a:endParaRPr lang="de-DE" altLang="en-US" sz="1800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non 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0,88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0,88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0,36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0,52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0,93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    0,88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04240" y="4511040"/>
            <a:ext cx="104489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Both Vision Transformer and YOLO achieved a strong performance, while melanoma recall of YOLO is slightly better than Vision Transformer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    Multi-Class            vs.              Binary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2295" y="1426845"/>
            <a:ext cx="6421755" cy="156019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852805" y="4033520"/>
            <a:ext cx="105962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Accuracy stayed roughly the same (0,97-0,98), merging classes didn‘t change overall performance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However </a:t>
            </a:r>
            <a:r>
              <a:rPr lang="de-DE" altLang="en-US" b="1">
                <a:latin typeface="Calibri" panose="020F0502020204030204" charset="0"/>
              </a:rPr>
              <a:t>melanoma recall decreases slightly</a:t>
            </a:r>
            <a:r>
              <a:rPr lang="de-DE" altLang="en-US">
                <a:latin typeface="Calibri" panose="020F0502020204030204" charset="0"/>
              </a:rPr>
              <a:t>, models became less sensitive to melanoma cases </a:t>
            </a: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simplifying the problem didn‘t necessarily improve melanoma detection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cs typeface="Calibri" panose="020F0502020204030204" charset="0"/>
                <a:sym typeface="+mn-ea"/>
              </a:rPr>
              <a:t>YOLO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showed consistently the best performance in the both setups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</a:rPr>
              <a:t>Vision Transformer</a:t>
            </a:r>
            <a:r>
              <a:rPr lang="de-DE" altLang="en-US">
                <a:latin typeface="Calibri" panose="020F0502020204030204" charset="0"/>
              </a:rPr>
              <a:t> performed nearly equally well with YOLO and offers better explainibility potential (with self attention mechanism)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</a:rPr>
              <a:t>ResNet18</a:t>
            </a:r>
            <a:r>
              <a:rPr lang="de-DE" altLang="en-US">
                <a:latin typeface="Calibri" panose="020F0502020204030204" charset="0"/>
              </a:rPr>
              <a:t> shows clear underfitting and bias to non-melanoma class in both setups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</a:rPr>
              <a:t>Improving melanoma detection is the main challenge</a:t>
            </a:r>
            <a:endParaRPr lang="de-DE" altLang="en-US" b="1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14" name="Content Placeholder 1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925" y="1426845"/>
            <a:ext cx="4714240" cy="21628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2*316"/>
  <p:tag name="TABLE_ENDDRAG_RECT" val="121*122*682*31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8752</Words>
  <Application>WPS Presentation</Application>
  <PresentationFormat>Widescreen</PresentationFormat>
  <Paragraphs>411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Cambria Math</vt:lpstr>
      <vt:lpstr>MS Mincho</vt:lpstr>
      <vt:lpstr>Liberation Mono</vt:lpstr>
      <vt:lpstr>Office Theme</vt:lpstr>
      <vt:lpstr>Nail Melanoma Project</vt:lpstr>
      <vt:lpstr>CNN Models with the best performances</vt:lpstr>
      <vt:lpstr>The Most Common Nail Diseases</vt:lpstr>
      <vt:lpstr>Common Nail Diseases Confused with Nail Melanoma</vt:lpstr>
      <vt:lpstr>Steps: 1. Dataset Preparation</vt:lpstr>
      <vt:lpstr>Current Dataset: 2503 Images</vt:lpstr>
      <vt:lpstr>PowerPoint 演示文稿</vt:lpstr>
      <vt:lpstr>Bounding Box Algorithm</vt:lpstr>
      <vt:lpstr>Healthy                                        Other</vt:lpstr>
      <vt:lpstr>Nail Melanoma                       Non Melanoma</vt:lpstr>
      <vt:lpstr>2. Experimenting with CNN Models: Multi Class Classification</vt:lpstr>
      <vt:lpstr>Dataset Structure</vt:lpstr>
      <vt:lpstr>Vision Transformer </vt:lpstr>
      <vt:lpstr>Vision Transformer</vt:lpstr>
      <vt:lpstr>YOLO </vt:lpstr>
      <vt:lpstr>YOLO</vt:lpstr>
      <vt:lpstr>ResNet18</vt:lpstr>
      <vt:lpstr>ResNet18</vt:lpstr>
      <vt:lpstr>3. Binary Classification</vt:lpstr>
      <vt:lpstr>Vision Transformer </vt:lpstr>
      <vt:lpstr>Vision Transformer</vt:lpstr>
      <vt:lpstr>YOLO</vt:lpstr>
      <vt:lpstr>YOLO</vt:lpstr>
      <vt:lpstr>ResNet18</vt:lpstr>
      <vt:lpstr>ResNet18</vt:lpstr>
      <vt:lpstr>Performance Comparison of the CNN Models: 1. Multi-Class Classification</vt:lpstr>
      <vt:lpstr>2. Binary Classification</vt:lpstr>
      <vt:lpstr>    Multi-Class            vs.              Binary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Ayca Öztürk</dc:creator>
  <cp:lastModifiedBy>Ayca Öztürk</cp:lastModifiedBy>
  <cp:revision>26</cp:revision>
  <dcterms:created xsi:type="dcterms:W3CDTF">2025-07-23T00:59:00Z</dcterms:created>
  <dcterms:modified xsi:type="dcterms:W3CDTF">2025-11-06T09:48:30Z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1033-12.2.0.23131</vt:lpwstr>
  </property>
</Properties>
</file>